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8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6" r:id="rId21"/>
    <p:sldId id="277" r:id="rId22"/>
    <p:sldId id="272" r:id="rId23"/>
    <p:sldId id="273" r:id="rId24"/>
    <p:sldId id="274" r:id="rId25"/>
    <p:sldId id="275" r:id="rId26"/>
  </p:sldIdLst>
  <p:sldSz cx="12192000" cy="6858000"/>
  <p:notesSz cx="6858000" cy="1857375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91" d="100"/>
          <a:sy n="91" d="100"/>
        </p:scale>
        <p:origin x="66" y="59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Camp\coursera\C09%20-%20Capstone\M1%20-%20Data%20Collection\L02%20-%20Collecting%20Data%20Using%20APIs\job-posting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Camp\coursera\C09%20-%20Capstone\M1%20-%20Data%20Collection\L02%20-%20Collecting%20Data%20Using%20APIs\job-posting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dirty="0"/>
              <a:t>Job Positions in United State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Sheet!$B$1</c:f>
              <c:strCache>
                <c:ptCount val="1"/>
                <c:pt idx="0">
                  <c:v>Number of Jobs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Sheet!$A$2:$A$8</c:f>
              <c:strCache>
                <c:ptCount val="7"/>
                <c:pt idx="0">
                  <c:v>Austin</c:v>
                </c:pt>
                <c:pt idx="1">
                  <c:v>San Francisco</c:v>
                </c:pt>
                <c:pt idx="2">
                  <c:v>Los Angeles</c:v>
                </c:pt>
                <c:pt idx="3">
                  <c:v>New York</c:v>
                </c:pt>
                <c:pt idx="4">
                  <c:v>Seattle</c:v>
                </c:pt>
                <c:pt idx="5">
                  <c:v>Detroit</c:v>
                </c:pt>
                <c:pt idx="6">
                  <c:v>Washington DC</c:v>
                </c:pt>
              </c:strCache>
            </c:strRef>
          </c:cat>
          <c:val>
            <c:numRef>
              <c:f>Sheet!$B$2:$B$8</c:f>
              <c:numCache>
                <c:formatCode>0</c:formatCode>
                <c:ptCount val="7"/>
                <c:pt idx="0">
                  <c:v>434</c:v>
                </c:pt>
                <c:pt idx="1">
                  <c:v>435</c:v>
                </c:pt>
                <c:pt idx="2">
                  <c:v>640</c:v>
                </c:pt>
                <c:pt idx="3">
                  <c:v>3226</c:v>
                </c:pt>
                <c:pt idx="4">
                  <c:v>3375</c:v>
                </c:pt>
                <c:pt idx="5">
                  <c:v>3945</c:v>
                </c:pt>
                <c:pt idx="6">
                  <c:v>5316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A8-4876-B735-8EDCB21F0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41058576"/>
        <c:axId val="1641053776"/>
      </c:barChart>
      <c:catAx>
        <c:axId val="16410585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053776"/>
        <c:crosses val="autoZero"/>
        <c:auto val="1"/>
        <c:lblAlgn val="ctr"/>
        <c:lblOffset val="100"/>
        <c:noMultiLvlLbl val="0"/>
      </c:catAx>
      <c:valAx>
        <c:axId val="1641053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Number of Jobs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058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</a:t>
            </a:r>
            <a:r>
              <a:rPr lang="en-US" baseline="0"/>
              <a:t> of Jobs by Skills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Skills!$A$2:$A$13</c:f>
              <c:strCache>
                <c:ptCount val="12"/>
                <c:pt idx="0">
                  <c:v>MySQL Server</c:v>
                </c:pt>
                <c:pt idx="1">
                  <c:v>PostgreSQL</c:v>
                </c:pt>
                <c:pt idx="2">
                  <c:v>Scala</c:v>
                </c:pt>
                <c:pt idx="3">
                  <c:v>MongoDB</c:v>
                </c:pt>
                <c:pt idx="4">
                  <c:v>SQL Server</c:v>
                </c:pt>
                <c:pt idx="5">
                  <c:v>C++</c:v>
                </c:pt>
                <c:pt idx="6">
                  <c:v>C#</c:v>
                </c:pt>
                <c:pt idx="7">
                  <c:v>JavaScript</c:v>
                </c:pt>
                <c:pt idx="8">
                  <c:v>Oracle</c:v>
                </c:pt>
                <c:pt idx="9">
                  <c:v>Python</c:v>
                </c:pt>
                <c:pt idx="10">
                  <c:v>Java</c:v>
                </c:pt>
                <c:pt idx="11">
                  <c:v>C</c:v>
                </c:pt>
              </c:strCache>
            </c:strRef>
          </c:cat>
          <c:val>
            <c:numRef>
              <c:f>Skills!$B$2:$B$13</c:f>
              <c:numCache>
                <c:formatCode>0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33</c:v>
                </c:pt>
                <c:pt idx="3">
                  <c:v>174</c:v>
                </c:pt>
                <c:pt idx="4">
                  <c:v>250</c:v>
                </c:pt>
                <c:pt idx="5">
                  <c:v>305</c:v>
                </c:pt>
                <c:pt idx="6">
                  <c:v>333</c:v>
                </c:pt>
                <c:pt idx="7">
                  <c:v>355</c:v>
                </c:pt>
                <c:pt idx="8">
                  <c:v>784</c:v>
                </c:pt>
                <c:pt idx="9">
                  <c:v>1173</c:v>
                </c:pt>
                <c:pt idx="10">
                  <c:v>2609</c:v>
                </c:pt>
                <c:pt idx="11">
                  <c:v>13498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E4-4BF2-91E4-47E336750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63866576"/>
        <c:axId val="1665554656"/>
      </c:barChart>
      <c:catAx>
        <c:axId val="16638665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Skill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5554656"/>
        <c:crosses val="autoZero"/>
        <c:auto val="1"/>
        <c:lblAlgn val="ctr"/>
        <c:lblOffset val="100"/>
        <c:noMultiLvlLbl val="0"/>
      </c:catAx>
      <c:valAx>
        <c:axId val="16655546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Number of Jobs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86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62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7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119" y="615950"/>
            <a:ext cx="4794861" cy="435133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68401"/>
            <a:ext cx="8864601" cy="2387600"/>
          </a:xfrm>
          <a:noFill/>
        </p:spPr>
        <p:txBody>
          <a:bodyPr>
            <a:normAutofit/>
          </a:bodyPr>
          <a:lstStyle/>
          <a:p>
            <a:r>
              <a:rPr lang="en-US" sz="2400" dirty="0"/>
              <a:t>Technology Trend Analysis: The 2024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Saw Yu Nwe</a:t>
            </a:r>
          </a:p>
          <a:p>
            <a:r>
              <a:rPr lang="en-US" dirty="0"/>
              <a:t>12/6/2025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Executive Summary</a:t>
            </a:r>
          </a:p>
          <a:p>
            <a:r>
              <a:rPr lang="en-US" sz="1800" dirty="0"/>
              <a:t>Introduction</a:t>
            </a:r>
          </a:p>
          <a:p>
            <a:r>
              <a:rPr lang="en-US" sz="1800" dirty="0"/>
              <a:t>Methodology</a:t>
            </a:r>
          </a:p>
          <a:p>
            <a:r>
              <a:rPr lang="en-US" sz="18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18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1800" dirty="0"/>
              <a:t>Conclusion</a:t>
            </a:r>
          </a:p>
          <a:p>
            <a:r>
              <a:rPr lang="en-US" sz="18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Data Source:</a:t>
            </a:r>
            <a:r>
              <a:rPr lang="en-US" sz="2000" dirty="0">
                <a:solidFill>
                  <a:schemeClr val="tx1"/>
                </a:solidFill>
              </a:rPr>
              <a:t> Stack Overflow Developer Survey (2024)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Focus:</a:t>
            </a:r>
            <a:r>
              <a:rPr lang="en-US" sz="2000" dirty="0">
                <a:solidFill>
                  <a:schemeClr val="tx1"/>
                </a:solidFill>
              </a:rPr>
              <a:t> Programming Languages, Database Systems, Cloud Platforms, and Web Frameworks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Outlook:</a:t>
            </a:r>
            <a:r>
              <a:rPr lang="en-US" sz="2000" dirty="0">
                <a:solidFill>
                  <a:schemeClr val="tx1"/>
                </a:solidFill>
              </a:rPr>
              <a:t> 2025 - 2026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This report provides a strategic forecast, indicating a critical shift in the technology landscape.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Key component of this shift include: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The convergence of established technologies with the rapid, pervasive integration of Artificial Intelligence (AI).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An increasing focus on high-performance computing solutions.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(Source: Stack Overflow Developer Survey 2024)</a:t>
            </a:r>
          </a:p>
          <a:p>
            <a:r>
              <a:rPr lang="en-US" sz="1800" b="1" dirty="0"/>
              <a:t>Data Preparation (Python):</a:t>
            </a:r>
            <a:r>
              <a:rPr lang="en-US" sz="1800" dirty="0"/>
              <a:t> Python was used to perform all data cleaning and wrangling tasks on the survey dataset.</a:t>
            </a:r>
          </a:p>
          <a:p>
            <a:r>
              <a:rPr lang="en-US" sz="1800" b="1" dirty="0"/>
              <a:t>External Data Integration:</a:t>
            </a:r>
            <a:r>
              <a:rPr lang="en-US" sz="1800" dirty="0"/>
              <a:t> An external country list from </a:t>
            </a:r>
            <a:r>
              <a:rPr lang="en-US" sz="1800" i="1" dirty="0"/>
              <a:t>worldometers.info</a:t>
            </a:r>
            <a:r>
              <a:rPr lang="en-US" sz="1800" dirty="0"/>
              <a:t> was integrated to accurately clean and validate the 'Country' column.</a:t>
            </a:r>
          </a:p>
          <a:p>
            <a:r>
              <a:rPr lang="en-US" sz="1800" b="1" dirty="0"/>
              <a:t>Categorization:</a:t>
            </a:r>
            <a:r>
              <a:rPr lang="en-US" sz="1800" dirty="0"/>
              <a:t> The '</a:t>
            </a:r>
            <a:r>
              <a:rPr lang="en-US" sz="1800" dirty="0" err="1"/>
              <a:t>EdLevel</a:t>
            </a:r>
            <a:r>
              <a:rPr lang="en-US" sz="1800" dirty="0"/>
              <a:t>' column data was grouped and simplified into broader categories for easier analysis and clearer interpretation.</a:t>
            </a:r>
          </a:p>
          <a:p>
            <a:r>
              <a:rPr lang="en-US" sz="1800" b="1" dirty="0"/>
              <a:t>Visualization:</a:t>
            </a:r>
            <a:r>
              <a:rPr lang="en-US" sz="1800" dirty="0"/>
              <a:t> All final analysis and corresponding data visualizations (graphs) were produced and presented using Google Looker Studio.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1D05E-A3D3-356F-EB51-94E7A1AE2A61}"/>
              </a:ext>
            </a:extLst>
          </p:cNvPr>
          <p:cNvSpPr txBox="1">
            <a:spLocks/>
          </p:cNvSpPr>
          <p:nvPr/>
        </p:nvSpPr>
        <p:spPr>
          <a:xfrm>
            <a:off x="1043114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809C55-A789-CCB5-46F5-E5DF2A4B97A6}"/>
              </a:ext>
            </a:extLst>
          </p:cNvPr>
          <p:cNvSpPr txBox="1">
            <a:spLocks/>
          </p:cNvSpPr>
          <p:nvPr/>
        </p:nvSpPr>
        <p:spPr>
          <a:xfrm>
            <a:off x="2323999" y="1643994"/>
            <a:ext cx="2228642" cy="501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Current Year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C464FC2-CEB6-51D1-A543-22CD5918AB83}"/>
              </a:ext>
            </a:extLst>
          </p:cNvPr>
          <p:cNvSpPr txBox="1">
            <a:spLocks/>
          </p:cNvSpPr>
          <p:nvPr/>
        </p:nvSpPr>
        <p:spPr>
          <a:xfrm>
            <a:off x="7912869" y="1690688"/>
            <a:ext cx="1758142" cy="501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Next Year</a:t>
            </a:r>
          </a:p>
        </p:txBody>
      </p:sp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9D4D3A2C-C88C-896B-A2B3-FE09A650A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32" y="2192626"/>
            <a:ext cx="5229418" cy="2810298"/>
          </a:xfrm>
          <a:prstGeom prst="rect">
            <a:avLst/>
          </a:prstGeom>
        </p:spPr>
      </p:pic>
      <p:pic>
        <p:nvPicPr>
          <p:cNvPr id="16" name="Picture 1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1FBD574-DD38-ACA9-6BC0-0C94ED73E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021" y="2192626"/>
            <a:ext cx="5121935" cy="26355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43785-01FA-DA1E-6311-0615D36D5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00200"/>
            <a:ext cx="10515599" cy="4572000"/>
          </a:xfrm>
        </p:spPr>
        <p:txBody>
          <a:bodyPr>
            <a:normAutofit/>
          </a:bodyPr>
          <a:lstStyle/>
          <a:p>
            <a:r>
              <a:rPr lang="en-US" sz="1800" b="1" dirty="0"/>
              <a:t>Full-Stack Dominance:</a:t>
            </a:r>
            <a:r>
              <a:rPr lang="en-US" sz="1800" dirty="0"/>
              <a:t> </a:t>
            </a:r>
            <a:r>
              <a:rPr lang="en-US" sz="1800" b="1" dirty="0"/>
              <a:t>JavaScript</a:t>
            </a:r>
            <a:r>
              <a:rPr lang="en-US" sz="1800" dirty="0"/>
              <a:t> and </a:t>
            </a:r>
            <a:r>
              <a:rPr lang="en-US" sz="1800" b="1" dirty="0"/>
              <a:t>TypeScript</a:t>
            </a:r>
            <a:r>
              <a:rPr lang="en-US" sz="1800" dirty="0"/>
              <a:t> continue their dominance in full-stack development.</a:t>
            </a:r>
          </a:p>
          <a:p>
            <a:r>
              <a:rPr lang="en-US" sz="1800" b="1" dirty="0"/>
              <a:t>AI Growth Leader:</a:t>
            </a:r>
            <a:r>
              <a:rPr lang="en-US" sz="1800" dirty="0"/>
              <a:t> </a:t>
            </a:r>
            <a:r>
              <a:rPr lang="en-US" sz="1800" b="1" dirty="0"/>
              <a:t>Python</a:t>
            </a:r>
            <a:r>
              <a:rPr lang="en-US" sz="1800" dirty="0"/>
              <a:t>'s popularity has surged in recent years, a trend that is expected to continue, driven primarily by developments in </a:t>
            </a:r>
            <a:r>
              <a:rPr lang="en-US" sz="1800" b="1" dirty="0"/>
              <a:t>Data Science</a:t>
            </a:r>
            <a:r>
              <a:rPr lang="en-US" sz="1800" dirty="0"/>
              <a:t> and </a:t>
            </a:r>
            <a:r>
              <a:rPr lang="en-US" sz="1800" b="1" dirty="0"/>
              <a:t>Machine Learning</a:t>
            </a:r>
            <a:r>
              <a:rPr lang="en-US" sz="1800" dirty="0"/>
              <a:t>.</a:t>
            </a:r>
          </a:p>
          <a:p>
            <a:r>
              <a:rPr lang="en-US" sz="1800" b="1" dirty="0"/>
              <a:t>Performance Focus:</a:t>
            </a:r>
            <a:r>
              <a:rPr lang="en-US" sz="1800" dirty="0"/>
              <a:t> </a:t>
            </a:r>
            <a:r>
              <a:rPr lang="en-US" sz="1800" b="1" dirty="0"/>
              <a:t>Rust</a:t>
            </a:r>
            <a:r>
              <a:rPr lang="en-US" sz="1800" dirty="0"/>
              <a:t> and </a:t>
            </a:r>
            <a:r>
              <a:rPr lang="en-US" sz="1800" b="1" dirty="0"/>
              <a:t>Go</a:t>
            </a:r>
            <a:r>
              <a:rPr lang="en-US" sz="1800" dirty="0"/>
              <a:t> are rapidly adopted for critical infrastructure due to speed and memory safety, replacing older languages like </a:t>
            </a:r>
            <a:r>
              <a:rPr lang="en-US" sz="1800" b="1" dirty="0"/>
              <a:t>PHP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49236" y="1754330"/>
            <a:ext cx="2228642" cy="501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14123" y="1754330"/>
            <a:ext cx="1758142" cy="501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Next Year</a:t>
            </a:r>
          </a:p>
        </p:txBody>
      </p:sp>
      <p:pic>
        <p:nvPicPr>
          <p:cNvPr id="8" name="Picture 7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2D0448F8-E613-3EC2-9121-21C9DC6C8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2417245"/>
            <a:ext cx="4667901" cy="2686425"/>
          </a:xfrm>
          <a:prstGeom prst="rect">
            <a:avLst/>
          </a:prstGeom>
        </p:spPr>
      </p:pic>
      <p:pic>
        <p:nvPicPr>
          <p:cNvPr id="10" name="Picture 9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12C71528-EF3B-CA51-C824-A77C38129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517" y="2507744"/>
            <a:ext cx="4553585" cy="25054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BEE2B06D-E135-977C-DE03-A3CCEC096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00200"/>
            <a:ext cx="10515599" cy="4572000"/>
          </a:xfrm>
        </p:spPr>
        <p:txBody>
          <a:bodyPr>
            <a:normAutofit/>
          </a:bodyPr>
          <a:lstStyle/>
          <a:p>
            <a:r>
              <a:rPr lang="en-US" sz="1800" b="1" dirty="0"/>
              <a:t>RDBMSs:</a:t>
            </a:r>
            <a:r>
              <a:rPr lang="en-US" sz="1800" dirty="0"/>
              <a:t> The relational database remains essential, with </a:t>
            </a:r>
            <a:r>
              <a:rPr lang="en-US" sz="1800" b="1" dirty="0"/>
              <a:t>PostgreSQL</a:t>
            </a:r>
            <a:r>
              <a:rPr lang="en-US" sz="1800" dirty="0"/>
              <a:t> solidifying its position as the preferred choice for enterprise-grade applications, often displacing </a:t>
            </a:r>
            <a:r>
              <a:rPr lang="en-US" sz="1800" b="1" dirty="0"/>
              <a:t>MySQL</a:t>
            </a:r>
            <a:r>
              <a:rPr lang="en-US" sz="1800" dirty="0"/>
              <a:t>. </a:t>
            </a:r>
          </a:p>
          <a:p>
            <a:r>
              <a:rPr lang="en-US" sz="1800" b="1" dirty="0"/>
              <a:t>AI/Vector Database Adoption : </a:t>
            </a:r>
            <a:r>
              <a:rPr lang="en-US" sz="1800" dirty="0"/>
              <a:t>The rise of AI applications, such as RAG and semantic search, drives demand for diverse, powerful vector databases, alongside specialized key-value stores like </a:t>
            </a:r>
            <a:r>
              <a:rPr lang="en-US" sz="1800" b="1" dirty="0"/>
              <a:t>Redis</a:t>
            </a:r>
            <a:r>
              <a:rPr lang="en-US" sz="1800" dirty="0"/>
              <a:t> and traditional SQL/NoSQL systems.</a:t>
            </a:r>
          </a:p>
          <a:p>
            <a:r>
              <a:rPr lang="en-US" sz="1800" b="1" dirty="0"/>
              <a:t>Market Shift: </a:t>
            </a:r>
            <a:r>
              <a:rPr lang="en-US" sz="1800" dirty="0"/>
              <a:t>The rise of </a:t>
            </a:r>
            <a:r>
              <a:rPr lang="en-US" sz="1800" b="1" dirty="0" err="1"/>
              <a:t>Supabase</a:t>
            </a:r>
            <a:r>
              <a:rPr lang="en-US" sz="1800" dirty="0"/>
              <a:t> signals a move toward open-source, integrated </a:t>
            </a:r>
            <a:r>
              <a:rPr lang="en-US" sz="1800" b="1" dirty="0"/>
              <a:t>PostgreSQL</a:t>
            </a:r>
            <a:r>
              <a:rPr lang="en-US" sz="1800" dirty="0"/>
              <a:t> backends that accelerate development, directly contrasting with </a:t>
            </a:r>
            <a:r>
              <a:rPr lang="en-US" sz="1800" b="1" dirty="0"/>
              <a:t>Oracle's</a:t>
            </a:r>
            <a:r>
              <a:rPr lang="en-US" sz="1800" dirty="0"/>
              <a:t> decline due to its high cost, proprietary nature, and legacy complexity.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https://github.com/yunwe/IBM-Data-Analyst-Capstone/blob/main/Tech_Trends.pdf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24B8AD-588E-1B69-5078-A2D456C0F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469" y="1299604"/>
            <a:ext cx="8701062" cy="4872595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D29CB-D74A-2B6A-FAB8-48C6E9F62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8" y="1418795"/>
            <a:ext cx="8807023" cy="49189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3871A-B2D8-1568-2BCC-71686057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59" y="1419063"/>
            <a:ext cx="8773081" cy="49161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sz="1800" b="1" dirty="0"/>
              <a:t>Core Languages and Development Stack</a:t>
            </a:r>
          </a:p>
          <a:p>
            <a:r>
              <a:rPr lang="en-US" sz="1800" b="1" dirty="0"/>
              <a:t>Shifting Demand: New Languages and Frameworks</a:t>
            </a:r>
          </a:p>
          <a:p>
            <a:r>
              <a:rPr lang="en-US" sz="1800" b="1" dirty="0"/>
              <a:t>Demographics of the Professional Developer Workforce</a:t>
            </a:r>
          </a:p>
          <a:p>
            <a:pPr marL="0" indent="0">
              <a:buNone/>
            </a:pPr>
            <a:endParaRPr lang="en-US" sz="1800" b="1" dirty="0"/>
          </a:p>
          <a:p>
            <a:endParaRPr lang="en-US" sz="1800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BC9D04-E678-1A8A-6E36-226F09778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00200"/>
            <a:ext cx="10515599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Core Languages and Development Staples</a:t>
            </a:r>
          </a:p>
          <a:p>
            <a:pPr marL="0" indent="0">
              <a:buNone/>
            </a:pPr>
            <a:r>
              <a:rPr lang="en-US" sz="1800" dirty="0"/>
              <a:t>These points reflect areas where the core technologies remain popular:</a:t>
            </a:r>
            <a:endParaRPr lang="en-US" sz="1800" b="1" dirty="0"/>
          </a:p>
          <a:p>
            <a:pPr lvl="1"/>
            <a:r>
              <a:rPr lang="en-US" sz="1800" b="1" dirty="0"/>
              <a:t>Focus on Web/Full Stack :</a:t>
            </a:r>
            <a:r>
              <a:rPr lang="en-US" sz="1800" dirty="0"/>
              <a:t> The top 4 core technology remains nearly unchanged, with </a:t>
            </a:r>
            <a:r>
              <a:rPr lang="en-US" sz="1800" b="1" dirty="0"/>
              <a:t>JavaScript</a:t>
            </a:r>
            <a:r>
              <a:rPr lang="en-US" sz="1800" dirty="0"/>
              <a:t>, </a:t>
            </a:r>
            <a:r>
              <a:rPr lang="en-US" sz="1800" b="1" dirty="0"/>
              <a:t>TypeScript</a:t>
            </a:r>
            <a:r>
              <a:rPr lang="en-US" sz="1800" dirty="0"/>
              <a:t>, </a:t>
            </a:r>
            <a:r>
              <a:rPr lang="en-US" sz="1800" b="1" dirty="0"/>
              <a:t>HTML/CSS</a:t>
            </a:r>
            <a:r>
              <a:rPr lang="en-US" sz="1800" dirty="0"/>
              <a:t>, and </a:t>
            </a:r>
            <a:r>
              <a:rPr lang="en-US" sz="1800" b="1" dirty="0"/>
              <a:t>SQL</a:t>
            </a:r>
            <a:r>
              <a:rPr lang="en-US" sz="1800" dirty="0"/>
              <a:t> dominating the required skill set. Despite the attention given to AI, most developers are still focused on learning full-stack and web development.</a:t>
            </a:r>
          </a:p>
          <a:p>
            <a:pPr lvl="1"/>
            <a:r>
              <a:rPr lang="en-US" sz="1800" b="1" dirty="0"/>
              <a:t>Python's Rise is AI-Driven:</a:t>
            </a:r>
            <a:r>
              <a:rPr lang="en-US" sz="1800" dirty="0"/>
              <a:t> </a:t>
            </a:r>
            <a:r>
              <a:rPr lang="en-US" sz="1800" b="1" dirty="0"/>
              <a:t>Python</a:t>
            </a:r>
            <a:r>
              <a:rPr lang="en-US" sz="1800" dirty="0"/>
              <a:t> remains the fifth sought-after language due directly to the recent rise of </a:t>
            </a:r>
            <a:r>
              <a:rPr lang="en-US" sz="1800" b="1" dirty="0"/>
              <a:t>AI</a:t>
            </a:r>
            <a:r>
              <a:rPr lang="en-US" sz="1800" dirty="0"/>
              <a:t> and Machine Learning.</a:t>
            </a:r>
          </a:p>
          <a:p>
            <a:pPr lvl="1"/>
            <a:r>
              <a:rPr lang="en-US" sz="1800" b="1" dirty="0"/>
              <a:t>Database Consistency:</a:t>
            </a:r>
            <a:r>
              <a:rPr lang="en-US" sz="1800" dirty="0"/>
              <a:t> </a:t>
            </a:r>
            <a:r>
              <a:rPr lang="en-US" sz="1800" b="1" dirty="0"/>
              <a:t>PostgreSQL</a:t>
            </a:r>
            <a:r>
              <a:rPr lang="en-US" sz="1800" dirty="0"/>
              <a:t> was and remains the single most preferred choice for new database projects.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D9BA4-C636-A04A-098E-F559248E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FD17-9ABD-88DE-AE3B-89903930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3BC302B-A164-6E92-0A52-0B4CB5C20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00200"/>
            <a:ext cx="10515599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Shifting Demand: New Languages and Frameworks</a:t>
            </a:r>
          </a:p>
          <a:p>
            <a:pPr marL="0" indent="0">
              <a:buNone/>
            </a:pPr>
            <a:r>
              <a:rPr lang="en-US" sz="1800" dirty="0"/>
              <a:t>These points highlight specific technologies that are actively gaining momentum or replacing older technologies:</a:t>
            </a:r>
          </a:p>
          <a:p>
            <a:r>
              <a:rPr lang="en-US" sz="1800" b="1" dirty="0"/>
              <a:t>New Language Adoption:</a:t>
            </a:r>
            <a:r>
              <a:rPr lang="en-US" sz="1800" dirty="0"/>
              <a:t> High-performance languages like </a:t>
            </a:r>
            <a:r>
              <a:rPr lang="en-US" sz="1800" b="1" dirty="0"/>
              <a:t>Go</a:t>
            </a:r>
            <a:r>
              <a:rPr lang="en-US" sz="1800" dirty="0"/>
              <a:t> and </a:t>
            </a:r>
            <a:r>
              <a:rPr lang="en-US" sz="1800" b="1" dirty="0"/>
              <a:t>Rust</a:t>
            </a:r>
            <a:r>
              <a:rPr lang="en-US" sz="1800" dirty="0"/>
              <a:t> are becoming more popular, displacing established veterans like C#, Java, and PHP.</a:t>
            </a:r>
          </a:p>
          <a:p>
            <a:r>
              <a:rPr lang="en-US" sz="1800" b="1" dirty="0"/>
              <a:t>Web Framework Dominance and Change:</a:t>
            </a:r>
          </a:p>
          <a:p>
            <a:pPr lvl="1"/>
            <a:r>
              <a:rPr lang="en-US" sz="1800" b="1" dirty="0"/>
              <a:t>Node.js</a:t>
            </a:r>
            <a:r>
              <a:rPr lang="en-US" sz="1800" dirty="0"/>
              <a:t> and </a:t>
            </a:r>
            <a:r>
              <a:rPr lang="en-US" sz="1800" b="1" dirty="0"/>
              <a:t>React</a:t>
            </a:r>
            <a:r>
              <a:rPr lang="en-US" sz="1800" dirty="0"/>
              <a:t> continue to dominate the web framework market with the largest market shares.</a:t>
            </a:r>
          </a:p>
          <a:p>
            <a:pPr lvl="1"/>
            <a:r>
              <a:rPr lang="en-US" sz="1800" dirty="0"/>
              <a:t>Older technologies like </a:t>
            </a:r>
            <a:r>
              <a:rPr lang="en-US" sz="1800" b="1" dirty="0" err="1"/>
              <a:t>JQuery</a:t>
            </a:r>
            <a:r>
              <a:rPr lang="en-US" sz="1800" dirty="0"/>
              <a:t> and </a:t>
            </a:r>
            <a:r>
              <a:rPr lang="en-US" sz="1800" b="1" dirty="0"/>
              <a:t>Express</a:t>
            </a:r>
            <a:r>
              <a:rPr lang="en-US" sz="1800" dirty="0"/>
              <a:t> are losing favor and, </a:t>
            </a:r>
            <a:r>
              <a:rPr lang="en-US" sz="1800" b="1" dirty="0" err="1"/>
              <a:t>JQuery</a:t>
            </a:r>
            <a:r>
              <a:rPr lang="en-US" sz="1800" dirty="0"/>
              <a:t> is dropping out of the top 10 for future learning.</a:t>
            </a:r>
          </a:p>
          <a:p>
            <a:pPr lvl="1"/>
            <a:r>
              <a:rPr lang="en-US" sz="1800" b="1" dirty="0" err="1"/>
              <a:t>FastAPI</a:t>
            </a:r>
            <a:r>
              <a:rPr lang="en-US" sz="1800" dirty="0"/>
              <a:t> and </a:t>
            </a:r>
            <a:r>
              <a:rPr lang="en-US" sz="1800" b="1" dirty="0"/>
              <a:t>Svelte</a:t>
            </a:r>
            <a:r>
              <a:rPr lang="en-US" sz="1800" dirty="0"/>
              <a:t> are noted as fast-rising technologies to watch.</a:t>
            </a:r>
            <a:endParaRPr lang="en-US" sz="1800" b="1" dirty="0"/>
          </a:p>
          <a:p>
            <a:r>
              <a:rPr lang="en-US" sz="1800" b="1" dirty="0"/>
              <a:t>Cloud Platform Momentum:</a:t>
            </a:r>
            <a:r>
              <a:rPr lang="en-US" sz="1800" dirty="0"/>
              <a:t> </a:t>
            </a:r>
            <a:r>
              <a:rPr lang="en-US" sz="1800" b="1" dirty="0"/>
              <a:t>AWS</a:t>
            </a:r>
            <a:r>
              <a:rPr lang="en-US" sz="1800" dirty="0"/>
              <a:t> remains the most desired platform to learn; however, </a:t>
            </a:r>
            <a:r>
              <a:rPr lang="en-US" sz="1800" b="1" dirty="0"/>
              <a:t>Microsoft Azure</a:t>
            </a:r>
            <a:r>
              <a:rPr lang="en-US" sz="1800" dirty="0"/>
              <a:t> shows the most promising trend, ranking as the second-most desired platform despite not being in the current top 10 in usage.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4150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C24B-2820-BE63-6828-6D83D494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FF2D-B67E-D164-763B-0F29D96D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6EDB23A-AB18-EF03-9CC9-BB2E98089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00200"/>
            <a:ext cx="10515599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Demographics of the Professional Developer Workforce</a:t>
            </a:r>
          </a:p>
          <a:p>
            <a:r>
              <a:rPr lang="en-US" sz="1800" b="1" dirty="0"/>
              <a:t>Age Distribution:</a:t>
            </a:r>
            <a:r>
              <a:rPr lang="en-US" sz="1800" dirty="0"/>
              <a:t> The professional developer workforce is primarily </a:t>
            </a:r>
            <a:r>
              <a:rPr lang="en-US" sz="1800" b="1" dirty="0"/>
              <a:t>middle-aged</a:t>
            </a:r>
            <a:r>
              <a:rPr lang="en-US" sz="1800" dirty="0"/>
              <a:t>, with nearly </a:t>
            </a:r>
            <a:r>
              <a:rPr lang="en-US" sz="1800" b="1" dirty="0"/>
              <a:t>70%</a:t>
            </a:r>
            <a:r>
              <a:rPr lang="en-US" sz="1800" dirty="0"/>
              <a:t> of the population falling between the ages of </a:t>
            </a:r>
            <a:r>
              <a:rPr lang="en-US" sz="1800" b="1" dirty="0"/>
              <a:t>25 and 44</a:t>
            </a:r>
            <a:r>
              <a:rPr lang="en-US" sz="1800" dirty="0"/>
              <a:t>.</a:t>
            </a:r>
          </a:p>
          <a:p>
            <a:r>
              <a:rPr lang="en-US" sz="1800" b="1" dirty="0"/>
              <a:t>Educational Background:</a:t>
            </a:r>
            <a:r>
              <a:rPr lang="en-US" sz="1800" dirty="0"/>
              <a:t> Despite </a:t>
            </a:r>
            <a:r>
              <a:rPr lang="en-US" sz="1800" b="1" dirty="0"/>
              <a:t>common narratives</a:t>
            </a:r>
            <a:r>
              <a:rPr lang="en-US" sz="1800" dirty="0"/>
              <a:t> suggesting formal education is less critical (e.g., successful dropouts), the data shows that approximately </a:t>
            </a:r>
            <a:r>
              <a:rPr lang="en-US" sz="1800" b="1" dirty="0"/>
              <a:t>76% of professional developers hold one or more degrees.</a:t>
            </a:r>
            <a:endParaRPr lang="en-US" sz="1800" dirty="0"/>
          </a:p>
          <a:p>
            <a:r>
              <a:rPr lang="en-US" sz="1800" b="1" dirty="0"/>
              <a:t>Geographic Distribution (Top 10):</a:t>
            </a:r>
            <a:r>
              <a:rPr lang="en-US" sz="1800" dirty="0"/>
              <a:t> The top three countries represented in the developer population are the </a:t>
            </a:r>
            <a:r>
              <a:rPr lang="en-US" sz="1800" b="1" dirty="0"/>
              <a:t>USA</a:t>
            </a:r>
            <a:r>
              <a:rPr lang="en-US" sz="1800" dirty="0"/>
              <a:t>, followed by </a:t>
            </a:r>
            <a:r>
              <a:rPr lang="en-US" sz="1800" b="1" dirty="0"/>
              <a:t>Germany</a:t>
            </a:r>
            <a:r>
              <a:rPr lang="en-US" sz="1800" dirty="0"/>
              <a:t>, and then </a:t>
            </a:r>
            <a:r>
              <a:rPr lang="en-US" sz="1800" b="1" dirty="0"/>
              <a:t>India</a:t>
            </a:r>
            <a:r>
              <a:rPr lang="en-US" sz="1800" dirty="0"/>
              <a:t>. India is the </a:t>
            </a:r>
            <a:r>
              <a:rPr lang="en-US" sz="1800" i="1" dirty="0"/>
              <a:t>only Asian country</a:t>
            </a:r>
            <a:r>
              <a:rPr lang="en-US" sz="1800" dirty="0"/>
              <a:t> to appear in the top 10 list.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9666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 dirty="0"/>
              <a:t>Stable Core and SQL Preference:</a:t>
            </a:r>
            <a:r>
              <a:rPr lang="en-US" sz="1800" dirty="0"/>
              <a:t> Fundamental skills (</a:t>
            </a:r>
            <a:r>
              <a:rPr lang="en-US" sz="1800" b="1" dirty="0"/>
              <a:t>JavaScript, SQL, HTML/CSS</a:t>
            </a:r>
            <a:r>
              <a:rPr lang="en-US" sz="1800" dirty="0"/>
              <a:t>) and the </a:t>
            </a:r>
            <a:r>
              <a:rPr lang="en-US" sz="1800" b="1" dirty="0"/>
              <a:t>Full-Stack/Web</a:t>
            </a:r>
            <a:r>
              <a:rPr lang="en-US" sz="1800" dirty="0"/>
              <a:t> focus remain stable. </a:t>
            </a:r>
            <a:r>
              <a:rPr lang="en-US" sz="1800" b="1" dirty="0"/>
              <a:t>PostgreSQL</a:t>
            </a:r>
            <a:r>
              <a:rPr lang="en-US" sz="1800" dirty="0"/>
              <a:t> is the consistently preferred database.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AI &amp; Performance Drive Change:</a:t>
            </a:r>
            <a:r>
              <a:rPr lang="en-US" sz="1800" dirty="0"/>
              <a:t> </a:t>
            </a:r>
            <a:r>
              <a:rPr lang="en-US" sz="1800" b="1" dirty="0"/>
              <a:t>Python's</a:t>
            </a:r>
            <a:r>
              <a:rPr lang="en-US" sz="1800" dirty="0"/>
              <a:t> popularity is now fueled by </a:t>
            </a:r>
            <a:r>
              <a:rPr lang="en-US" sz="1800" b="1" dirty="0"/>
              <a:t>AI</a:t>
            </a:r>
            <a:r>
              <a:rPr lang="en-US" sz="1800" dirty="0"/>
              <a:t>. High-performance languages like </a:t>
            </a:r>
            <a:r>
              <a:rPr lang="en-US" sz="1800" b="1" dirty="0"/>
              <a:t>Go and Rust</a:t>
            </a:r>
            <a:r>
              <a:rPr lang="en-US" sz="1800" dirty="0"/>
              <a:t> are displacing older ones, and modern frameworks (</a:t>
            </a:r>
            <a:r>
              <a:rPr lang="en-US" sz="1800" b="1" dirty="0"/>
              <a:t>Svelte, </a:t>
            </a:r>
            <a:r>
              <a:rPr lang="en-US" sz="1800" b="1" dirty="0" err="1"/>
              <a:t>FastAPI</a:t>
            </a:r>
            <a:r>
              <a:rPr lang="en-US" sz="1800" dirty="0"/>
              <a:t>) are gaining ground over legacy options (</a:t>
            </a:r>
            <a:r>
              <a:rPr lang="en-US" sz="1800" dirty="0" err="1"/>
              <a:t>JQuery</a:t>
            </a:r>
            <a:r>
              <a:rPr lang="en-US" sz="1800" dirty="0"/>
              <a:t>, Express).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Workforce Demographics:</a:t>
            </a:r>
            <a:r>
              <a:rPr lang="en-US" sz="1800" dirty="0"/>
              <a:t> The developer workforce is primarily </a:t>
            </a:r>
            <a:r>
              <a:rPr lang="en-US" sz="1800" b="1" dirty="0"/>
              <a:t>middle-aged (25-44)</a:t>
            </a:r>
            <a:r>
              <a:rPr lang="en-US" sz="1800" dirty="0"/>
              <a:t>. Despite </a:t>
            </a:r>
            <a:r>
              <a:rPr lang="en-US" sz="1800" b="1" dirty="0"/>
              <a:t>common narratives</a:t>
            </a:r>
            <a:r>
              <a:rPr lang="en-US" sz="1800" dirty="0"/>
              <a:t> of dropouts, the vast majority (</a:t>
            </a:r>
            <a:r>
              <a:rPr lang="en-US" sz="1800" b="1" dirty="0"/>
              <a:t>76%</a:t>
            </a:r>
            <a:r>
              <a:rPr lang="en-US" sz="1800" dirty="0"/>
              <a:t>) of developers hold formal degrees.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792577-3648-3945-9CF5-7A5238338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671" y="1647327"/>
            <a:ext cx="3942456" cy="2456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5BEF1-B1BF-82FA-5BDF-B67561E2F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52" y="1550176"/>
            <a:ext cx="7415719" cy="30641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B7DCC78-CAD4-FD40-2461-4F1534F0CB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251776"/>
              </p:ext>
            </p:extLst>
          </p:nvPr>
        </p:nvGraphicFramePr>
        <p:xfrm>
          <a:off x="898634" y="1708614"/>
          <a:ext cx="6418930" cy="3851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3E1662E-8C20-9A42-768E-5935ADF2D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558522"/>
              </p:ext>
            </p:extLst>
          </p:nvPr>
        </p:nvGraphicFramePr>
        <p:xfrm>
          <a:off x="667407" y="1552903"/>
          <a:ext cx="6710856" cy="4026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351</TotalTime>
  <Words>962</Words>
  <Application>Microsoft Office PowerPoint</Application>
  <PresentationFormat>Widescreen</PresentationFormat>
  <Paragraphs>90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Technology Trend Analysis: The 2024 Report</vt:lpstr>
      <vt:lpstr>PowerPoint Presentation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OVERALL FINDINGS &amp; IMPLICATIONS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Saw Yu Nwe</cp:lastModifiedBy>
  <cp:revision>12</cp:revision>
  <dcterms:created xsi:type="dcterms:W3CDTF">2024-10-30T05:40:03Z</dcterms:created>
  <dcterms:modified xsi:type="dcterms:W3CDTF">2025-12-06T20:24:26Z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